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封面模板。替换团队、主题、汇报人与日期。装饰图和标识来自用户提供的最新实验室演示文稿；若用于其他组织，替换对应素材。也可复制此页作为章节分隔页，删去议程即可。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总览、业务方向、产品定位、职责或三个主要结论均可使用。三张卡片保持相同层级；如有四个独立要点，改为2×2排列。不要为凑齐卡片新增内容。参考最新实验室演示文稿的要点卡片。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图文证据模板。左侧可放产品截图、案例、架构细节或结果图表；右侧说明观察、价值和启示。删除占位框内文字后插入图片；截图完整适配，原始图片不要拉伸。参考业务洞察演示文稿的Claude Science案例页。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比较矩阵模板，表格为原生可编辑对象。也适用于职责分工、用户功能到平台需求的映射。比较项过多时拆分页面；不要把字号持续缩小。参考业务洞察演示文稿的办公Agent对比页。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任务流程模板。按真实任务替换步骤和输入输出；箭头只表达图中所写的顺序。如需反馈循环，用有明确起点与终点的连接线补充。参考业务洞察演示文稿的OPC经营任务页。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模板。所有层、标签、能力模块和连接线均为原生对象。当前示例是一张职责与能力地图，箭头表示入口向应用委托任务、底座向应用提供支撑；如实际需要返回结果或部署边界，请按真实关系修改。参考两份较新演示文稿的统一入口、专业应用、共用底座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路线图模板。替换阶段、日期、任务、成果和负责人。不要将示意时间当成已确认承诺。三阶段构图参考最早孵化演示文稿的六周探索页，视觉样式与较新实验室文稿保持一致。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总结与行动模板。上方三点保留结论、价值和未知项，下方说明下一步、负责人和时间。最后一行填写需要的决定或支持。不要把讨论中的建议写成已确认承诺。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洞察模板。沿用既有图文证据页的标题、图片区、总结与页脚，右侧改为目标人群、用户场景、核心痛点、商业模式四个模块。左侧占位图替换为产品截图、关键流程或官方案例，现有标识保留。参考业务洞察演示文稿中Claude Science和Muse的证据加启示表达方式。目标人群区分实际使用者与付费主体；场景说明触发情境、输入和交付成果；痛点对照用户现有做法与代价；商业模式说明计费单位及购买、续费理由。具体收费与能力应注明版本和日期；未公开的商业信息可写待核验。底部提炼对我们产品方向或能力建设的启示。参考：user-provided reference deck ，当前第7–9页。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/ 致谢模板。GitHub主页、社区仓库与Bilibili账号卡片及网址均有可点击超链接。2026-10-08核对GitHub主页与community仓库，并从Bilibili用户搜索页面核对账号名称openJiuwen及主页UID 3690984464451987；账号主页直接读取受B站访问限制。链接：https://github.com/openJiuwen-ai ；https://github.com/openJiuwen-ai/community ；https://space.bilibili.com/3690984464451987 。B站核对来源：https://search.bilibili.com/upuser?keyword=openJiuwen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openJiuwen-ai" TargetMode="External"/><Relationship Id="rId4" Type="http://schemas.openxmlformats.org/officeDocument/2006/relationships/hyperlink" Target="https://github.com/openJiuwen-ai/community" TargetMode="External"/><Relationship Id="rId5" Type="http://schemas.openxmlformats.org/officeDocument/2006/relationships/hyperlink" Target="https://space.bilibili.com/3690984464451987" TargetMode="Externa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12191999" cy="4209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1316736"/>
            <a:ext cx="7269480" cy="2916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6812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45BFF"/>
                </a:solidFill>
                <a:latin typeface="Arial"/>
                <a:ea typeface="Microsoft YaHei"/>
              </a:rPr>
              <a:t>团队 / 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13432"/>
            <a:ext cx="678484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82B4D"/>
                </a:solidFill>
                <a:latin typeface="Arial"/>
                <a:ea typeface="Microsoft YaHei"/>
              </a:rPr>
              <a:t>演示主题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82B4D"/>
                </a:solidFill>
                <a:latin typeface="Arial"/>
                <a:ea typeface="Microsoft YaHei"/>
              </a:rPr>
              <a:t>副标题或讨论主题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666744"/>
            <a:ext cx="6492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Arial"/>
                <a:ea typeface="Microsoft YaHei"/>
              </a:rPr>
              <a:t>汇报人    ·    日期    ·    场合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11149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45BFF"/>
                </a:solidFill>
                <a:latin typeface="Arial"/>
                <a:ea typeface="Microsoft YaHei"/>
              </a:rPr>
              <a:t>今天要回答的核心问题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45BFF"/>
                </a:solidFill>
                <a:latin typeface="Arial"/>
                <a:ea typeface="Microsoft YaHei"/>
              </a:rPr>
              <a:t>议题一    /    议题二    /    议题三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用一句话概括本页的三个要点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02  总览 / 要点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交代背景、范围或讨论目标，控制在一行内。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一句话总结：说明这三个要点共同意味着什么。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28216"/>
            <a:ext cx="3483864" cy="3685032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947672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01  要点一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87752"/>
            <a:ext cx="3081528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用两三行说明这个要点。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写清事实、价值或关键判断。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901183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启示 / 讨论问题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728216"/>
            <a:ext cx="3483864" cy="3685032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947672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8598"/>
                </a:solidFill>
                <a:latin typeface="Arial"/>
                <a:ea typeface="Microsoft YaHei"/>
              </a:rPr>
              <a:t>02  要点二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587752"/>
            <a:ext cx="3081528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用两三行说明这个要点。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写清事实、价值或关键判断。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901183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8598"/>
                </a:solidFill>
                <a:latin typeface="Arial"/>
                <a:ea typeface="Microsoft YaHei"/>
              </a:rPr>
              <a:t>启示 / 讨论问题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7" y="1728216"/>
            <a:ext cx="3483864" cy="3685032"/>
          </a:xfrm>
          <a:prstGeom prst="roundRect">
            <a:avLst>
              <a:gd name="adj" fmla="val 12000"/>
            </a:avLst>
          </a:prstGeom>
          <a:solidFill>
            <a:srgbClr val="F2EDFA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947672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044B8"/>
                </a:solidFill>
                <a:latin typeface="Arial"/>
                <a:ea typeface="Microsoft YaHei"/>
              </a:rPr>
              <a:t>03  要点三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587752"/>
            <a:ext cx="3081528" cy="2587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用两三行说明这个要点。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写清事实、价值或关键判断。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901183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044B8"/>
                </a:solidFill>
                <a:latin typeface="Arial"/>
                <a:ea typeface="Microsoft YaHei"/>
              </a:rPr>
              <a:t>启示 / 讨论问题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用图表或案例支持一个核心判断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03  图文 / 证据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说明证据来自哪里，以及它能回答什么问题。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核心洞察：从图中能得到什么结论，以及它对我们意味着什么。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46504"/>
            <a:ext cx="6702552" cy="3730752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主图占位"/>
          <p:cNvSpPr txBox="1"/>
          <p:nvPr/>
        </p:nvSpPr>
        <p:spPr>
          <a:xfrm>
            <a:off x="987552" y="2916936"/>
            <a:ext cx="5916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45BFF"/>
                </a:solidFill>
                <a:latin typeface="Arial"/>
                <a:ea typeface="Microsoft YaHei"/>
              </a:rPr>
              <a:t>图表 / 截图 / 案例图片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3639312"/>
            <a:ext cx="582472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Arial"/>
                <a:ea typeface="Microsoft YaHei"/>
              </a:rPr>
              <a:t>替换为清晰图片或可编辑图表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Arial"/>
                <a:ea typeface="Microsoft YaHei"/>
              </a:rPr>
              <a:t>保持原始比例与重要内容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1810512"/>
            <a:ext cx="3794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01  观察到什么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6" y="2368296"/>
            <a:ext cx="3794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说明最重要的现象或事实。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3063240"/>
            <a:ext cx="3794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02  为什么重要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3621024"/>
            <a:ext cx="3794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连接用户任务、业务价值或技术问题。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4315968"/>
            <a:ext cx="3794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03  对我们的启示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4873752"/>
            <a:ext cx="3794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给出具体判断，区分事实与分析。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2297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来源：机构 / 链接 / 日期；必要时说明样本与适用范围。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说明方案之间最重要的差异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04  对比 / 矩阵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先统一比较维度；范围、时间与条件保持一致。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选择依据：概括最重要的差异、适用条件或推荐方案。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1783080"/>
          <a:ext cx="11000232" cy="3630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53512"/>
                <a:gridCol w="2953512"/>
                <a:gridCol w="2944368"/>
              </a:tblGrid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比较维度</a:t>
                      </a:r>
                    </a:p>
                  </a:txBody>
                  <a:tcPr marL="146304" marR="118872" marT="109728" marB="73152" anchor="ctr">
                    <a:solidFill>
                      <a:srgbClr val="24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方案 A</a:t>
                      </a:r>
                    </a:p>
                  </a:txBody>
                  <a:tcPr marL="146304" marR="118872" marT="109728" marB="73152" anchor="ctr">
                    <a:solidFill>
                      <a:srgbClr val="24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方案 B</a:t>
                      </a:r>
                    </a:p>
                  </a:txBody>
                  <a:tcPr marL="146304" marR="118872" marT="109728" marB="73152" anchor="ctr">
                    <a:solidFill>
                      <a:srgbClr val="245B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方案 C</a:t>
                      </a:r>
                    </a:p>
                  </a:txBody>
                  <a:tcPr marL="146304" marR="118872" marT="109728" marB="73152" anchor="ctr">
                    <a:solidFill>
                      <a:srgbClr val="245BFF"/>
                    </a:solidFill>
                  </a:tcPr>
                </a:tc>
              </a:tr>
              <a:tr h="7612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45BFF"/>
                          </a:solidFill>
                          <a:latin typeface="Arial"/>
                        </a:rPr>
                        <a:t>支持范围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填写范围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填写范围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填写范围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</a:tr>
              <a:tr h="7612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45BFF"/>
                          </a:solidFill>
                          <a:latin typeface="Arial"/>
                        </a:rPr>
                        <a:t>适用任务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填写典型任务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填写典型任务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填写典型任务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</a:tr>
              <a:tr h="7612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45BFF"/>
                          </a:solidFill>
                          <a:latin typeface="Arial"/>
                        </a:rPr>
                        <a:t>主要优势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填写优势与依据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填写优势与依据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填写优势与依据</a:t>
                      </a:r>
                    </a:p>
                  </a:txBody>
                  <a:tcPr marL="146304" marR="118872" marT="109728" marB="73152" anchor="ctr">
                    <a:solidFill>
                      <a:srgbClr val="F3F6FD"/>
                    </a:solidFill>
                  </a:tcPr>
                </a:tc>
              </a:tr>
              <a:tr h="7612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45BFF"/>
                          </a:solidFill>
                          <a:latin typeface="Arial"/>
                        </a:rPr>
                        <a:t>待验证项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填写未知或限制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填写未知或限制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82B4D"/>
                          </a:solidFill>
                          <a:latin typeface="Arial"/>
                        </a:rPr>
                        <a:t>填写未知或限制</a:t>
                      </a:r>
                    </a:p>
                  </a:txBody>
                  <a:tcPr marL="146304" marR="118872" marT="109728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5522976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来源与比较口径：填写资料日期、样本或版本。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展示一项任务如何从输入走到结果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05  流程 / 步骤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每一步写清动作、负责人或交付物；用箭头表达先后关系。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关键闭环：交付结果经过检查，反馈进入下一轮改进。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01368"/>
            <a:ext cx="2537460" cy="2395728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20824"/>
            <a:ext cx="21351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01  明确输入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60904"/>
            <a:ext cx="2135124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用户目标与约束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已有资料与起点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79" y="2990088"/>
            <a:ext cx="219457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15284" y="1801368"/>
            <a:ext cx="2537460" cy="2395728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6452" y="2020824"/>
            <a:ext cx="21351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02  形成方案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2" y="2660904"/>
            <a:ext cx="2135124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分解任务与分工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确认范围与预期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75604" y="2990088"/>
            <a:ext cx="219456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36208" y="1801368"/>
            <a:ext cx="2537460" cy="2395728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020824"/>
            <a:ext cx="21351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03  执行与检查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660904"/>
            <a:ext cx="2135124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完成关键工作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核对中间成果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96528" y="2990088"/>
            <a:ext cx="219456" cy="0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7132" y="1801368"/>
            <a:ext cx="2537460" cy="2395728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8300" y="2020824"/>
            <a:ext cx="21351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04  交付与反馈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2660904"/>
            <a:ext cx="2135124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交付可用结果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收集反馈并改进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453128"/>
            <a:ext cx="5367528" cy="1005840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672584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输入 / 前提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4453128"/>
            <a:ext cx="5367528" cy="100584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4672584"/>
            <a:ext cx="49651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8598"/>
                </a:solidFill>
                <a:latin typeface="Arial"/>
                <a:ea typeface="Microsoft YaHei"/>
              </a:rPr>
              <a:t>输出 / 验收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5065776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写清触发条件、所需资料与必要约束。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065776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写清最终成果及其检查方式。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说明入口、应用与共用平台的关系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06  架构 / 分层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每一层有明确职责；箭头旁写清委托、结果或支撑关系。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架构结论：用一句话说明职责划分或能力复用带来的价值。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627632"/>
            <a:ext cx="11000232" cy="667512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792224"/>
            <a:ext cx="29718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08598"/>
                </a:solidFill>
                <a:latin typeface="Arial"/>
                <a:ea typeface="Microsoft YaHei"/>
              </a:rPr>
              <a:t>用户 / 业务入口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819656"/>
            <a:ext cx="752551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理解目标    ·    汇聚信息    ·    分发任务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79192"/>
            <a:ext cx="5367528" cy="1106424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71216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45BFF"/>
                </a:solidFill>
                <a:latin typeface="Arial"/>
                <a:ea typeface="Microsoft YaHei"/>
              </a:rPr>
              <a:t>应用 / 服务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49103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负责一类专业任务，交付可检查的成果。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55264" y="2322576"/>
            <a:ext cx="0" cy="292608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2679192"/>
            <a:ext cx="5367528" cy="1106424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871216"/>
            <a:ext cx="4910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08598"/>
                </a:solidFill>
                <a:latin typeface="Arial"/>
                <a:ea typeface="Microsoft YaHei"/>
              </a:rPr>
              <a:t>应用 / 服务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392424"/>
            <a:ext cx="49103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负责一类专业任务，交付可检查的成果。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87967" y="2322576"/>
            <a:ext cx="0" cy="292608"/>
          </a:xfrm>
          <a:prstGeom prst="line">
            <a:avLst/>
          </a:prstGeom>
          <a:ln w="1587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89704" y="23774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Arial"/>
                <a:ea typeface="Microsoft YaHei"/>
              </a:rPr>
              <a:t>任务委托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133087"/>
            <a:ext cx="11000232" cy="1444752"/>
          </a:xfrm>
          <a:prstGeom prst="roundRect">
            <a:avLst>
              <a:gd name="adj" fmla="val 12000"/>
            </a:avLst>
          </a:prstGeom>
          <a:solidFill>
            <a:srgbClr val="F2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315968"/>
            <a:ext cx="32918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7044B8"/>
                </a:solidFill>
                <a:latin typeface="Arial"/>
                <a:ea typeface="Microsoft YaHei"/>
              </a:rPr>
              <a:t>共用平台 / 底座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370832"/>
            <a:ext cx="6510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7044B8"/>
                </a:solidFill>
                <a:latin typeface="Arial"/>
                <a:ea typeface="Microsoft YaHei"/>
              </a:rPr>
              <a:t>统一提供运行、协同与治理能力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" y="4901184"/>
            <a:ext cx="194767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010912"/>
            <a:ext cx="1819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044B8"/>
                </a:solidFill>
                <a:latin typeface="Arial"/>
                <a:ea typeface="Microsoft YaHei"/>
              </a:rPr>
              <a:t>任务编排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58084" y="4901184"/>
            <a:ext cx="194767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2092" y="5010912"/>
            <a:ext cx="1819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044B8"/>
                </a:solidFill>
                <a:latin typeface="Arial"/>
                <a:ea typeface="Microsoft YaHei"/>
              </a:rPr>
              <a:t>记忆与上下文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2352" y="4901184"/>
            <a:ext cx="194767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5010912"/>
            <a:ext cx="1819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044B8"/>
                </a:solidFill>
                <a:latin typeface="Arial"/>
                <a:ea typeface="Microsoft YaHei"/>
              </a:rPr>
              <a:t>身份与授权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6620" y="4901184"/>
            <a:ext cx="194767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0628" y="5010912"/>
            <a:ext cx="1819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044B8"/>
                </a:solidFill>
                <a:latin typeface="Arial"/>
                <a:ea typeface="Microsoft YaHei"/>
              </a:rPr>
              <a:t>模型与工具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90888" y="4901184"/>
            <a:ext cx="194767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54896" y="5010912"/>
            <a:ext cx="181965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044B8"/>
                </a:solidFill>
                <a:latin typeface="Arial"/>
                <a:ea typeface="Microsoft YaHei"/>
              </a:rPr>
              <a:t>观测与交付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255264" y="3831336"/>
            <a:ext cx="0" cy="274320"/>
          </a:xfrm>
          <a:prstGeom prst="line">
            <a:avLst/>
          </a:prstGeom>
          <a:ln w="15875">
            <a:solidFill>
              <a:srgbClr val="704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887968" y="3831336"/>
            <a:ext cx="0" cy="274320"/>
          </a:xfrm>
          <a:prstGeom prst="line">
            <a:avLst/>
          </a:prstGeom>
          <a:ln w="15875">
            <a:solidFill>
              <a:srgbClr val="704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78808" y="3877056"/>
            <a:ext cx="38221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044B8"/>
                </a:solidFill>
                <a:latin typeface="Arial"/>
                <a:ea typeface="Microsoft YaHei"/>
              </a:rPr>
              <a:t>共用能力支撑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用三个阶段说明如何推进到目标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07  路线图 / 计划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按阶段列出重点工作、可检查的成果和进入下一阶段的条件。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推进原则：根据成果与证据调整计划，关键节点明确责任人。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1856231"/>
            <a:ext cx="10094976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84831" y="1700784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34838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45BFF"/>
                </a:solidFill>
                <a:latin typeface="Arial"/>
                <a:ea typeface="Microsoft YaHei"/>
              </a:rPr>
              <a:t>阶段一 / 时间待定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79192"/>
            <a:ext cx="3483864" cy="2779776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898648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明确问题与目标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538728"/>
            <a:ext cx="3081528" cy="1682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重点工作：填写本阶段任务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交付成果：填写可检查的结果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负责人：填写姓名或角色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946904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检查点：是否满足下一步条件？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43016" y="1700784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008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2103120"/>
            <a:ext cx="34838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8598"/>
                </a:solidFill>
                <a:latin typeface="Arial"/>
                <a:ea typeface="Microsoft YaHei"/>
              </a:rPr>
              <a:t>阶段二 / 时间待定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2679192"/>
            <a:ext cx="3483864" cy="2779776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898648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8598"/>
                </a:solidFill>
                <a:latin typeface="Arial"/>
                <a:ea typeface="Microsoft YaHei"/>
              </a:rPr>
              <a:t>实现并开展试用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538728"/>
            <a:ext cx="3081528" cy="1682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重点工作：填写本阶段任务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交付成果：填写可检查的结果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负责人：填写姓名或角色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946904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8598"/>
                </a:solidFill>
                <a:latin typeface="Arial"/>
                <a:ea typeface="Microsoft YaHei"/>
              </a:rPr>
              <a:t>检查点：是否满足下一步条件？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700784"/>
            <a:ext cx="320040" cy="320040"/>
          </a:xfrm>
          <a:prstGeom prst="roundRect">
            <a:avLst>
              <a:gd name="adj" fmla="val 12000"/>
            </a:avLst>
          </a:prstGeom>
          <a:solidFill>
            <a:srgbClr val="70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8" y="2103120"/>
            <a:ext cx="34838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044B8"/>
                </a:solidFill>
                <a:latin typeface="Arial"/>
                <a:ea typeface="Microsoft YaHei"/>
              </a:rPr>
              <a:t>阶段三 / 时间待定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0728" y="2679192"/>
            <a:ext cx="3483864" cy="2779776"/>
          </a:xfrm>
          <a:prstGeom prst="roundRect">
            <a:avLst>
              <a:gd name="adj" fmla="val 12000"/>
            </a:avLst>
          </a:prstGeom>
          <a:solidFill>
            <a:srgbClr val="F2EDFA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2898648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044B8"/>
                </a:solidFill>
                <a:latin typeface="Arial"/>
                <a:ea typeface="Microsoft YaHei"/>
              </a:rPr>
              <a:t>验证结果与改进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538728"/>
            <a:ext cx="3081528" cy="1682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重点工作：填写本阶段任务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交付成果：填写可检查的结果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负责人：填写姓名或角色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946904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044B8"/>
                </a:solidFill>
                <a:latin typeface="Arial"/>
                <a:ea typeface="Microsoft YaHei"/>
              </a:rPr>
              <a:t>检查点：是否满足下一步条件？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回顾关键结论，并明确下一步行动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08  总结 / 行动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只保留最重要的判断，以及需要推进或决定的事项。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需要的决定 / 支持：明确本次希望获得的判断、资源或协作。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64792"/>
            <a:ext cx="3483864" cy="1773936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984248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01  关键结论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24328"/>
            <a:ext cx="308152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用两行概括一个要点。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避免重复前面所有细节。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764792"/>
            <a:ext cx="3483864" cy="1773936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984248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8598"/>
                </a:solidFill>
                <a:latin typeface="Arial"/>
                <a:ea typeface="Microsoft YaHei"/>
              </a:rPr>
              <a:t>02  主要价值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624328"/>
            <a:ext cx="308152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用两行概括一个要点。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避免重复前面所有细节。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1764792"/>
            <a:ext cx="3483864" cy="1773936"/>
          </a:xfrm>
          <a:prstGeom prst="roundRect">
            <a:avLst>
              <a:gd name="adj" fmla="val 12000"/>
            </a:avLst>
          </a:prstGeom>
          <a:solidFill>
            <a:srgbClr val="F2EDFA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984248"/>
            <a:ext cx="3081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044B8"/>
                </a:solidFill>
                <a:latin typeface="Arial"/>
                <a:ea typeface="Microsoft YaHei"/>
              </a:rPr>
              <a:t>03  待确认问题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624328"/>
            <a:ext cx="308152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用两行概括一个要点。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避免重复前面所有细节。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58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245BFF"/>
                </a:solidFill>
                <a:latin typeface="Arial"/>
                <a:ea typeface="Microsoft YaHei"/>
              </a:rPr>
              <a:t>接下来做什么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434840"/>
            <a:ext cx="11000232" cy="402336"/>
          </a:xfrm>
          <a:prstGeom prst="rect">
            <a:avLst/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526280"/>
            <a:ext cx="64190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行动项 / 交付物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4526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负责人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452628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时间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837176"/>
            <a:ext cx="11000232" cy="429768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937760"/>
            <a:ext cx="6419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填写一项具体行动与预期成果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49377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姓名 / 角色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493776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日期 / 节点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266944"/>
            <a:ext cx="11000232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367528"/>
            <a:ext cx="6419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填写一项具体行动与预期成果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1" y="53675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姓名 / 角色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344" y="536752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82B4D"/>
                </a:solidFill>
                <a:latin typeface="Arial"/>
                <a:ea typeface="Microsoft YaHei"/>
              </a:rPr>
              <a:t>日期 / 节点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502920" y="329184"/>
            <a:ext cx="8385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245BFF"/>
                </a:solidFill>
                <a:latin typeface="Arial"/>
                <a:ea typeface="Microsoft YaHei"/>
              </a:rPr>
              <a:t>产品名：用一句话说明核心价值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80576" y="246888"/>
            <a:ext cx="2487168" cy="603504"/>
          </a:xfrm>
          <a:prstGeom prst="roundRect">
            <a:avLst>
              <a:gd name="adj" fmla="val 12000"/>
            </a:avLst>
          </a:prstGeom>
          <a:solidFill>
            <a:srgbClr val="24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版式名称"/>
          <p:cNvSpPr txBox="1"/>
          <p:nvPr/>
        </p:nvSpPr>
        <p:spPr>
          <a:xfrm>
            <a:off x="9290304" y="393192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Microsoft YaHei"/>
              </a:rPr>
              <a:t>09  产品洞察</a:t>
            </a:r>
          </a:p>
        </p:txBody>
      </p:sp>
      <p:sp>
        <p:nvSpPr>
          <p:cNvPr id="5" name="背景或范围"/>
          <p:cNvSpPr txBox="1"/>
          <p:nvPr/>
        </p:nvSpPr>
        <p:spPr>
          <a:xfrm>
            <a:off x="539496" y="1024128"/>
            <a:ext cx="7360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rial"/>
                <a:ea typeface="Microsoft YaHei"/>
              </a:rPr>
              <a:t>产品定位 / 当前版本 / 核对日期；围绕一项真实用户任务展开。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13716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5824728"/>
            <a:ext cx="11109960" cy="393192"/>
          </a:xfrm>
          <a:prstGeom prst="rect">
            <a:avLst/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一句话总结"/>
          <p:cNvSpPr txBox="1"/>
          <p:nvPr/>
        </p:nvSpPr>
        <p:spPr>
          <a:xfrm>
            <a:off x="713232" y="5916168"/>
            <a:ext cx="107533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5BFF"/>
                </a:solidFill>
                <a:latin typeface="Arial"/>
                <a:ea typeface="Microsoft YaHei"/>
              </a:rPr>
              <a:t>对我们的启示：它怎样改善用户任务，什么价值支持持续使用与付费？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46504"/>
            <a:ext cx="4032504" cy="3255264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主图占位"/>
          <p:cNvSpPr txBox="1"/>
          <p:nvPr/>
        </p:nvSpPr>
        <p:spPr>
          <a:xfrm>
            <a:off x="804672" y="2779776"/>
            <a:ext cx="36118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45BFF"/>
                </a:solidFill>
                <a:latin typeface="Arial"/>
                <a:ea typeface="Microsoft YaHei"/>
              </a:rPr>
              <a:t>产品截图 / 关键流程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465576"/>
            <a:ext cx="3611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Arial"/>
                <a:ea typeface="Microsoft YaHei"/>
              </a:rPr>
              <a:t>展示一项典型任务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Arial"/>
                <a:ea typeface="Microsoft YaHei"/>
              </a:rPr>
              <a:t>说明用户如何获得成果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72784"/>
            <a:ext cx="1088136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来源：产品官网 / 发布说明 / 定价页    ·    核对日期：YYYY-MM-DD</a:t>
            </a:r>
          </a:p>
        </p:txBody>
      </p:sp>
      <p:sp>
        <p:nvSpPr>
          <p:cNvPr id="23" name="开源状态标签"/>
          <p:cNvSpPr/>
          <p:nvPr/>
        </p:nvSpPr>
        <p:spPr>
          <a:xfrm>
            <a:off x="8138160" y="973836"/>
            <a:ext cx="3502152" cy="356616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开源状态"/>
          <p:cNvSpPr txBox="1"/>
          <p:nvPr/>
        </p:nvSpPr>
        <p:spPr>
          <a:xfrm>
            <a:off x="8229600" y="1010412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5BFF"/>
                </a:solidFill>
                <a:latin typeface="Arial"/>
                <a:ea typeface="Microsoft YaHei"/>
              </a:rPr>
              <a:t>开源状态：开源 / 部分开源 / 未开源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82896" y="1746504"/>
            <a:ext cx="3227832" cy="1901952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4064" y="1965960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01  目标人群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2606039"/>
            <a:ext cx="28254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核心用户：角色与群体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付费主体：谁为成果付费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1746504"/>
            <a:ext cx="3227832" cy="1901952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1965960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8598"/>
                </a:solidFill>
                <a:latin typeface="Arial"/>
                <a:ea typeface="Microsoft YaHei"/>
              </a:rPr>
              <a:t>02  用户场景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2606039"/>
            <a:ext cx="28254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触发情境：何时需要它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交付结果：从输入到成果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82896" y="3813048"/>
            <a:ext cx="3227832" cy="1901952"/>
          </a:xfrm>
          <a:prstGeom prst="roundRect">
            <a:avLst>
              <a:gd name="adj" fmla="val 12000"/>
            </a:avLst>
          </a:prstGeom>
          <a:solidFill>
            <a:srgbClr val="F2EDFA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4064" y="4032504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044B8"/>
                </a:solidFill>
                <a:latin typeface="Arial"/>
                <a:ea typeface="Microsoft YaHei"/>
              </a:rPr>
              <a:t>03  核心痛点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672583"/>
            <a:ext cx="28254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现有做法：流程与卡点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代价：时间、成本、质量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813048"/>
            <a:ext cx="3227832" cy="1901952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7928" y="4032504"/>
            <a:ext cx="28254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45BFF"/>
                </a:solidFill>
                <a:latin typeface="Arial"/>
                <a:ea typeface="Microsoft YaHei"/>
              </a:rPr>
              <a:t>04  商业模式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672583"/>
            <a:ext cx="28254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收费：订阅 / 席位 / 用量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B4D"/>
                </a:solidFill>
                <a:latin typeface="Arial"/>
                <a:ea typeface="Microsoft YaHei"/>
              </a:rPr>
              <a:t>付费理由：购买与续费动机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5202936"/>
            <a:ext cx="37764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45BFF"/>
                </a:solidFill>
                <a:latin typeface="Arial"/>
                <a:ea typeface="Microsoft YaHei"/>
              </a:rPr>
              <a:t>典型案例 / 可见成果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5513832"/>
            <a:ext cx="3776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82B4D"/>
                </a:solidFill>
                <a:latin typeface="Arial"/>
                <a:ea typeface="Microsoft YaHei"/>
              </a:rPr>
              <a:t>任务输入 → 执行过程 → 实际成果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804672"/>
            <a:ext cx="1828800" cy="410198"/>
          </a:xfrm>
          <a:prstGeom prst="rect">
            <a:avLst/>
          </a:prstGeom>
        </p:spPr>
      </p:pic>
      <p:sp>
        <p:nvSpPr>
          <p:cNvPr id="3" name="致谢标题"/>
          <p:cNvSpPr txBox="1"/>
          <p:nvPr/>
        </p:nvSpPr>
        <p:spPr>
          <a:xfrm>
            <a:off x="1051560" y="1682496"/>
            <a:ext cx="100858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>
                <a:solidFill>
                  <a:srgbClr val="245BFF"/>
                </a:solidFill>
                <a:latin typeface="Arial"/>
                <a:ea typeface="Microsoft YaHei"/>
              </a:rPr>
              <a:t>Thank You</a:t>
            </a:r>
          </a:p>
        </p:txBody>
      </p:sp>
      <p:sp>
        <p:nvSpPr>
          <p:cNvPr id="4" name="致谢副标题"/>
          <p:cNvSpPr txBox="1"/>
          <p:nvPr/>
        </p:nvSpPr>
        <p:spPr>
          <a:xfrm>
            <a:off x="1051560" y="2816352"/>
            <a:ext cx="1008583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64748B"/>
                </a:solidFill>
                <a:latin typeface="Arial"/>
                <a:ea typeface="Microsoft YaHei"/>
              </a:rPr>
              <a:t>感谢聆听，欢迎交流与共建</a:t>
            </a:r>
          </a:p>
        </p:txBody>
      </p:sp>
      <p:sp>
        <p:nvSpPr>
          <p:cNvPr id="5" name="GitHub主页链接卡片">
            <a:hlinkClick r:id="rId3"/>
          </p:cNvPr>
          <p:cNvSpPr/>
          <p:nvPr/>
        </p:nvSpPr>
        <p:spPr>
          <a:xfrm>
            <a:off x="1938528" y="3694176"/>
            <a:ext cx="8321040" cy="996696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9696" y="3849624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45BFF"/>
                </a:solidFill>
                <a:latin typeface="Arial"/>
                <a:ea typeface="Microsoft YaHei"/>
                <a:hlinkClick r:id="rId3"/>
              </a:rPr>
              <a:t>GitHub · openJiuwen</a:t>
            </a:r>
          </a:p>
        </p:txBody>
      </p:sp>
      <p:sp>
        <p:nvSpPr>
          <p:cNvPr id="7" name="GitHub主页链接"/>
          <p:cNvSpPr txBox="1"/>
          <p:nvPr/>
        </p:nvSpPr>
        <p:spPr>
          <a:xfrm>
            <a:off x="2139696" y="4224528"/>
            <a:ext cx="791870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45BFF"/>
                </a:solidFill>
                <a:latin typeface="Arial"/>
                <a:ea typeface="Microsoft YaHei"/>
                <a:hlinkClick r:id="rId3"/>
              </a:rPr>
              <a:t>https://github.com/openJiuwen-ai</a:t>
            </a:r>
          </a:p>
        </p:txBody>
      </p:sp>
      <p:sp>
        <p:nvSpPr>
          <p:cNvPr id="8" name="GitHub · 社区与贡献">
            <a:hlinkClick r:id="rId4"/>
          </p:cNvPr>
          <p:cNvSpPr/>
          <p:nvPr/>
        </p:nvSpPr>
        <p:spPr>
          <a:xfrm>
            <a:off x="1938528" y="5065776"/>
            <a:ext cx="4023360" cy="969264"/>
          </a:xfrm>
          <a:prstGeom prst="roundRect">
            <a:avLst>
              <a:gd name="adj" fmla="val 12000"/>
            </a:avLst>
          </a:prstGeom>
          <a:solidFill>
            <a:srgbClr val="F3F6FD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5239512"/>
            <a:ext cx="369417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45BFF"/>
                </a:solidFill>
                <a:latin typeface="Arial"/>
                <a:ea typeface="Microsoft YaHei"/>
                <a:hlinkClick r:id="rId4"/>
              </a:rPr>
              <a:t>GitHub · 社区与贡献</a:t>
            </a:r>
          </a:p>
        </p:txBody>
      </p:sp>
      <p:sp>
        <p:nvSpPr>
          <p:cNvPr id="10" name="GitHub · 社区与贡献链接"/>
          <p:cNvSpPr txBox="1"/>
          <p:nvPr/>
        </p:nvSpPr>
        <p:spPr>
          <a:xfrm>
            <a:off x="2103120" y="562356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45BFF"/>
                </a:solidFill>
                <a:latin typeface="Arial"/>
                <a:ea typeface="Microsoft YaHei"/>
                <a:hlinkClick r:id="rId4"/>
              </a:rPr>
              <a:t>github.com/openJiuwen-ai/community</a:t>
            </a:r>
          </a:p>
        </p:txBody>
      </p:sp>
      <p:sp>
        <p:nvSpPr>
          <p:cNvPr id="11" name="Bilibili · openJiuwen">
            <a:hlinkClick r:id="rId5"/>
          </p:cNvPr>
          <p:cNvSpPr/>
          <p:nvPr/>
        </p:nvSpPr>
        <p:spPr>
          <a:xfrm>
            <a:off x="6236208" y="5065776"/>
            <a:ext cx="4023360" cy="969264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889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239512"/>
            <a:ext cx="369417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45BFF"/>
                </a:solidFill>
                <a:latin typeface="Arial"/>
                <a:ea typeface="Microsoft YaHei"/>
                <a:hlinkClick r:id="rId5"/>
              </a:rPr>
              <a:t>Bilibili · openJiuwen</a:t>
            </a:r>
          </a:p>
        </p:txBody>
      </p:sp>
      <p:sp>
        <p:nvSpPr>
          <p:cNvPr id="13" name="Bilibili · openJiuwen链接"/>
          <p:cNvSpPr txBox="1"/>
          <p:nvPr/>
        </p:nvSpPr>
        <p:spPr>
          <a:xfrm>
            <a:off x="6400800" y="562356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45BFF"/>
                </a:solidFill>
                <a:latin typeface="Arial"/>
                <a:ea typeface="Microsoft YaHei"/>
                <a:hlinkClick r:id="rId5"/>
              </a:rPr>
              <a:t>space.bilibili.com/3690984464451987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" y="6400800"/>
            <a:ext cx="11137392" cy="0"/>
          </a:xfrm>
          <a:prstGeom prst="line">
            <a:avLst/>
          </a:prstGeom>
          <a:ln w="7620">
            <a:solidFill>
              <a:srgbClr val="DCE5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5105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Arial"/>
                <a:ea typeface="Microsoft YaHei"/>
              </a:rPr>
              <a:t>团队 / 项目名称    ·    日期    ·    汇报状态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848" y="6492240"/>
            <a:ext cx="1014984" cy="2276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56848" y="6510528"/>
            <a:ext cx="31089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Arial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正式演示文稿｜10种常用版式</dc:title>
  <dc:subject>根据既有演示文稿整理的可编辑模板</dc:subject>
  <dc:creator/>
  <cp:keywords>模板, 总览, 图文, 对比, 流程, 架构, 路线图, 总结, 产品洞察, Thank You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