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82" r:id="rId6"/>
    <p:sldId id="281" r:id="rId7"/>
    <p:sldId id="285" r:id="rId8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  <p14:sldId id="28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C0F3-3D4F-8E8F-DC07C0A40CB4}"/>
              </c:ext>
            </c:extLst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0F3-3D4F-8E8F-DC07C0A40CB4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C0F3-3D4F-8E8F-DC07C0A40CB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0F3-3D4F-8E8F-DC07C0A40CB4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8-C0F3-3D4F-8E8F-DC07C0A40CB4}"/>
              </c:ext>
            </c:extLst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C0F3-3D4F-8E8F-DC07C0A40CB4}"/>
              </c:ext>
            </c:extLst>
          </c:dPt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0F3-3D4F-8E8F-DC07C0A40C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360089552"/>
        <c:axId val="360084656"/>
      </c:barChart>
      <c:catAx>
        <c:axId val="360089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360084656"/>
        <c:crosses val="autoZero"/>
        <c:auto val="1"/>
        <c:lblAlgn val="ctr"/>
        <c:lblOffset val="100"/>
        <c:noMultiLvlLbl val="0"/>
      </c:catAx>
      <c:valAx>
        <c:axId val="360084656"/>
        <c:scaling>
          <c:orientation val="minMax"/>
          <c:max val="160"/>
          <c:min val="0"/>
        </c:scaling>
        <c:delete val="0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700" b="0" i="0" u="none" strike="noStrike" kern="1200" baseline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360089552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7">
            <a:extLst>
              <a:ext uri="{FF2B5EF4-FFF2-40B4-BE49-F238E27FC236}">
                <a16:creationId xmlns=""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部门：</a:t>
            </a:r>
            <a:endParaRPr lang="en-US" altLang="zh-CN" dirty="0"/>
          </a:p>
          <a:p>
            <a:r>
              <a:rPr lang="zh-CN" altLang="en-US" dirty="0"/>
              <a:t>作者：</a:t>
            </a:r>
            <a:endParaRPr lang="en-US" altLang="zh-CN" dirty="0"/>
          </a:p>
          <a:p>
            <a:r>
              <a:rPr lang="zh-CN" altLang="en-US" dirty="0"/>
              <a:t>日期：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D83681D-12EE-844E-8C09-E767231D8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045712" cy="3013725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22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1">
            <a:extLst>
              <a:ext uri="{FF2B5EF4-FFF2-40B4-BE49-F238E27FC236}">
                <a16:creationId xmlns="" xmlns:a16="http://schemas.microsoft.com/office/drawing/2014/main" id="{AA2F35BA-0D33-A940-95B7-4E443E9FA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175" y="471777"/>
            <a:ext cx="10740640" cy="993400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="" xmlns:a16="http://schemas.microsoft.com/office/drawing/2014/main" id="{27ECFF97-8F0B-D245-ADDE-A22D49B48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493635"/>
              </p:ext>
            </p:extLst>
          </p:nvPr>
        </p:nvGraphicFramePr>
        <p:xfrm>
          <a:off x="4953403" y="2284225"/>
          <a:ext cx="6408172" cy="3705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5018">
                  <a:extLst>
                    <a:ext uri="{9D8B030D-6E8A-4147-A177-3AD203B41FA5}">
                      <a16:colId xmlns="" xmlns:a16="http://schemas.microsoft.com/office/drawing/2014/main" val="3290653754"/>
                    </a:ext>
                  </a:extLst>
                </a:gridCol>
                <a:gridCol w="936978">
                  <a:extLst>
                    <a:ext uri="{9D8B030D-6E8A-4147-A177-3AD203B41FA5}">
                      <a16:colId xmlns="" xmlns:a16="http://schemas.microsoft.com/office/drawing/2014/main" val="2226355419"/>
                    </a:ext>
                  </a:extLst>
                </a:gridCol>
                <a:gridCol w="948266">
                  <a:extLst>
                    <a:ext uri="{9D8B030D-6E8A-4147-A177-3AD203B41FA5}">
                      <a16:colId xmlns="" xmlns:a16="http://schemas.microsoft.com/office/drawing/2014/main" val="1019984887"/>
                    </a:ext>
                  </a:extLst>
                </a:gridCol>
                <a:gridCol w="948267">
                  <a:extLst>
                    <a:ext uri="{9D8B030D-6E8A-4147-A177-3AD203B41FA5}">
                      <a16:colId xmlns="" xmlns:a16="http://schemas.microsoft.com/office/drawing/2014/main" val="4189785689"/>
                    </a:ext>
                  </a:extLst>
                </a:gridCol>
                <a:gridCol w="948267">
                  <a:extLst>
                    <a:ext uri="{9D8B030D-6E8A-4147-A177-3AD203B41FA5}">
                      <a16:colId xmlns="" xmlns:a16="http://schemas.microsoft.com/office/drawing/2014/main" val="50060077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471514843"/>
                    </a:ext>
                  </a:extLst>
                </a:gridCol>
                <a:gridCol w="936976">
                  <a:extLst>
                    <a:ext uri="{9D8B030D-6E8A-4147-A177-3AD203B41FA5}">
                      <a16:colId xmlns="" xmlns:a16="http://schemas.microsoft.com/office/drawing/2014/main" val="3567691634"/>
                    </a:ext>
                  </a:extLst>
                </a:gridCol>
              </a:tblGrid>
              <a:tr h="595196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T-Mobile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Huawei</a:t>
                      </a:r>
                      <a:endParaRPr lang="en-US" sz="95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Orange</a:t>
                      </a:r>
                      <a:endParaRPr lang="en-US" sz="95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</a:rPr>
                        <a:t>China Mobile</a:t>
                      </a: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cs typeface="Arial" panose="020B0604020202020204" pitchFamily="34" charset="0"/>
                        </a:rPr>
                        <a:t>China Telecom 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cs typeface="Arial" panose="020B0604020202020204" pitchFamily="34" charset="0"/>
                        </a:rPr>
                        <a:t>China Unicom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68218184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40" b="0" dirty="0">
                          <a:latin typeface="+mn-lt"/>
                          <a:cs typeface="Arial" panose="020B0604020202020204" pitchFamily="34" charset="0"/>
                        </a:rPr>
                        <a:t>22M-40M</a:t>
                      </a:r>
                    </a:p>
                  </a:txBody>
                  <a:tcPr marL="72000" marR="0" marT="0" marB="0" anchor="ctr"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b="1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ts val="21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</a:rPr>
                        <a:t>•</a:t>
                      </a:r>
                      <a:endParaRPr lang="en-US" sz="3600" b="1" dirty="0">
                        <a:solidFill>
                          <a:srgbClr val="C00000"/>
                        </a:solidFill>
                      </a:endParaRPr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40"/>
                        </a:lnSpc>
                      </a:pPr>
                      <a:endParaRPr lang="en-US" dirty="0"/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endParaRPr lang="en-US" sz="3600" dirty="0"/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81083839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40" b="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40" b="0" dirty="0">
                          <a:latin typeface="+mn-lt"/>
                          <a:cs typeface="Arial" panose="020B0604020202020204" pitchFamily="34" charset="0"/>
                        </a:rPr>
                        <a:t>50M-80M</a:t>
                      </a:r>
                      <a:endParaRPr lang="en-US" sz="1040" dirty="0">
                        <a:latin typeface="+mn-lt"/>
                      </a:endParaRPr>
                    </a:p>
                  </a:txBody>
                  <a:tcPr marL="72000"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 marL="90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C00000"/>
                          </a:solidFill>
                        </a:rPr>
                        <a:t>•</a:t>
                      </a: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11918238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40" b="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40" b="0" dirty="0">
                          <a:latin typeface="+mn-lt"/>
                          <a:cs typeface="Arial" panose="020B0604020202020204" pitchFamily="34" charset="0"/>
                        </a:rPr>
                        <a:t>18M-25M</a:t>
                      </a:r>
                      <a:endParaRPr lang="en-US" sz="1040" dirty="0">
                        <a:latin typeface="+mn-lt"/>
                      </a:endParaRPr>
                    </a:p>
                  </a:txBody>
                  <a:tcPr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b="1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</a:rPr>
                        <a:t>•</a:t>
                      </a: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920293942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40" b="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40" b="0" dirty="0">
                          <a:latin typeface="+mn-lt"/>
                          <a:cs typeface="Arial" panose="020B0604020202020204" pitchFamily="34" charset="0"/>
                        </a:rPr>
                        <a:t>22M-35M</a:t>
                      </a:r>
                      <a:endParaRPr lang="en-US" sz="1040" dirty="0">
                        <a:latin typeface="+mn-lt"/>
                      </a:endParaRPr>
                    </a:p>
                  </a:txBody>
                  <a:tcPr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b="1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</a:rPr>
                        <a:t>•</a:t>
                      </a: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4736679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276231359"/>
                  </a:ext>
                </a:extLst>
              </a:tr>
            </a:tbl>
          </a:graphicData>
        </a:graphic>
      </p:graphicFrame>
      <p:graphicFrame>
        <p:nvGraphicFramePr>
          <p:cNvPr id="7" name="Chart 5">
            <a:extLst>
              <a:ext uri="{FF2B5EF4-FFF2-40B4-BE49-F238E27FC236}">
                <a16:creationId xmlns="" xmlns:a16="http://schemas.microsoft.com/office/drawing/2014/main" id="{68303E64-E7F8-FD49-AE0D-E5D1DC689C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5109550"/>
              </p:ext>
            </p:extLst>
          </p:nvPr>
        </p:nvGraphicFramePr>
        <p:xfrm>
          <a:off x="777047" y="2607376"/>
          <a:ext cx="3852104" cy="2855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Box 22">
            <a:extLst>
              <a:ext uri="{FF2B5EF4-FFF2-40B4-BE49-F238E27FC236}">
                <a16:creationId xmlns="" xmlns:a16="http://schemas.microsoft.com/office/drawing/2014/main" id="{9DAEB3C8-0754-7242-9B37-C0036EA31918}"/>
              </a:ext>
            </a:extLst>
          </p:cNvPr>
          <p:cNvSpPr txBox="1">
            <a:spLocks noChangeArrowheads="1"/>
          </p:cNvSpPr>
          <p:nvPr/>
        </p:nvSpPr>
        <p:spPr bwMode="auto">
          <a:xfrm rot="-1200000">
            <a:off x="6777508" y="5077719"/>
            <a:ext cx="5351617" cy="451830"/>
          </a:xfrm>
          <a:prstGeom prst="rect">
            <a:avLst/>
          </a:prstGeom>
          <a:solidFill>
            <a:srgbClr val="FFFFFF">
              <a:alpha val="5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square" lIns="105092" tIns="101810" rIns="105092" bIns="10181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defTabSz="731838"/>
            <a:r>
              <a:rPr lang="zh-CN" altLang="en-US" sz="1600" dirty="0">
                <a:solidFill>
                  <a:srgbClr val="C00000"/>
                </a:solidFill>
                <a:latin typeface="+mn-lt"/>
                <a:ea typeface="黑体" pitchFamily="2" charset="-122"/>
              </a:rPr>
              <a:t>此页为图表配色示意，正式使用时请删除此页</a:t>
            </a:r>
          </a:p>
        </p:txBody>
      </p:sp>
    </p:spTree>
    <p:extLst>
      <p:ext uri="{BB962C8B-B14F-4D97-AF65-F5344CB8AC3E}">
        <p14:creationId xmlns:p14="http://schemas.microsoft.com/office/powerpoint/2010/main" val="27101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88</TotalTime>
  <Words>55</Words>
  <Application>Microsoft Office PowerPoint</Application>
  <PresentationFormat>自定义</PresentationFormat>
  <Paragraphs>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黑体</vt:lpstr>
      <vt:lpstr>Microsoft YaHei</vt:lpstr>
      <vt:lpstr>Arial</vt:lpstr>
      <vt:lpstr>Calibri</vt:lpstr>
      <vt:lpstr>Calibri Light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