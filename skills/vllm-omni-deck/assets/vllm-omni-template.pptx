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5E6B7A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Text</c:v>
                </c:pt>
                <c:pt idx="1">
                  <c:v>Image</c:v>
                </c:pt>
                <c:pt idx="2">
                  <c:v>Audio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1.0</c:v>
                </c:pt>
                <c:pt idx="1">
                  <c:v>1.0</c:v>
                </c:pt>
                <c:pt idx="2">
                  <c:v>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Optimized</c:v>
                </c:pt>
              </c:strCache>
            </c:strRef>
          </c:tx>
          <c:spPr>
            <a:solidFill>
              <a:srgbClr val="3B82F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Text</c:v>
                </c:pt>
                <c:pt idx="1">
                  <c:v>Image</c:v>
                </c:pt>
                <c:pt idx="2">
                  <c:v>Audio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1.5</c:v>
                </c:pt>
                <c:pt idx="1">
                  <c:v>1.4</c:v>
                </c:pt>
                <c:pt idx="2">
                  <c:v>1.3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8"/>
          <c:min val="0.0"/>
        </c:scaling>
        <c:delete val="0"/>
        <c:axPos val="l"/>
        <c:majorGridlines>
          <c:spPr>
            <a:ln>
              <a:solidFill>
                <a:srgbClr val="D8E2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-2068027336"/>
        <c:crosses val="autoZero"/>
        <c:majorUnit val="0.5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5488" y="310896"/>
            <a:ext cx="1755648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llm-omn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411480"/>
            <a:ext cx="1499616" cy="2726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2064" y="1115568"/>
            <a:ext cx="5212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vLLM-Omni
Technical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2542032"/>
            <a:ext cx="498348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A reusable visual system for multimodal serving stories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3172968"/>
            <a:ext cx="658368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3410712"/>
            <a:ext cx="4297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Presenter / team  ·  Event or review  ·  Month YYYY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08192" y="1261872"/>
            <a:ext cx="1225296" cy="42062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08192" y="1380743"/>
            <a:ext cx="12252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TEXT</a:t>
            </a:r>
          </a:p>
        </p:txBody>
      </p:sp>
      <p:sp>
        <p:nvSpPr>
          <p:cNvPr id="10" name="Chevron 9"/>
          <p:cNvSpPr/>
          <p:nvPr/>
        </p:nvSpPr>
        <p:spPr>
          <a:xfrm>
            <a:off x="7461504" y="1380743"/>
            <a:ext cx="274320" cy="173736"/>
          </a:xfrm>
          <a:prstGeom prst="chevron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08192" y="1883664"/>
            <a:ext cx="1225296" cy="420624"/>
          </a:xfrm>
          <a:prstGeom prst="roundRect">
            <a:avLst/>
          </a:prstGeom>
          <a:solidFill>
            <a:srgbClr val="45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08192" y="2002536"/>
            <a:ext cx="12252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IMAGE</a:t>
            </a:r>
          </a:p>
        </p:txBody>
      </p:sp>
      <p:sp>
        <p:nvSpPr>
          <p:cNvPr id="13" name="Chevron 12"/>
          <p:cNvSpPr/>
          <p:nvPr/>
        </p:nvSpPr>
        <p:spPr>
          <a:xfrm>
            <a:off x="7461504" y="2002536"/>
            <a:ext cx="274320" cy="173736"/>
          </a:xfrm>
          <a:prstGeom prst="chevron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08192" y="2505456"/>
            <a:ext cx="1225296" cy="420624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08192" y="2624328"/>
            <a:ext cx="12252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AUDIO</a:t>
            </a:r>
          </a:p>
        </p:txBody>
      </p:sp>
      <p:sp>
        <p:nvSpPr>
          <p:cNvPr id="16" name="Chevron 15"/>
          <p:cNvSpPr/>
          <p:nvPr/>
        </p:nvSpPr>
        <p:spPr>
          <a:xfrm>
            <a:off x="7461504" y="2624328"/>
            <a:ext cx="274320" cy="173736"/>
          </a:xfrm>
          <a:prstGeom prst="chevron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08192" y="3127248"/>
            <a:ext cx="1225296" cy="420624"/>
          </a:xfrm>
          <a:prstGeom prst="roundRect">
            <a:avLst/>
          </a:prstGeom>
          <a:solidFill>
            <a:srgbClr val="7C4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08192" y="3246120"/>
            <a:ext cx="12252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VIDEO</a:t>
            </a:r>
          </a:p>
        </p:txBody>
      </p:sp>
      <p:sp>
        <p:nvSpPr>
          <p:cNvPr id="19" name="Chevron 18"/>
          <p:cNvSpPr/>
          <p:nvPr/>
        </p:nvSpPr>
        <p:spPr>
          <a:xfrm>
            <a:off x="7461504" y="3246120"/>
            <a:ext cx="274320" cy="173736"/>
          </a:xfrm>
          <a:prstGeom prst="chevron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818120" y="1938528"/>
            <a:ext cx="82296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20" y="2276856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0D2340"/>
                </a:solidFill>
                <a:latin typeface="Arial"/>
              </a:rPr>
              <a:t>OMNI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" y="4608576"/>
            <a:ext cx="8101583" cy="109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4718304"/>
            <a:ext cx="5394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POWERPOINT-FIRST  ·  EDITABLE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5488" y="310896"/>
            <a:ext cx="1755648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llm-omn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411480"/>
            <a:ext cx="1499616" cy="2726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0352" y="1207008"/>
            <a:ext cx="4480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5A623"/>
                </a:solidFill>
                <a:latin typeface="Arial"/>
              </a:rPr>
              <a:t>01  / 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572768"/>
            <a:ext cx="4663440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One serving path.
Many modalities.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44348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Use a section slide to reset attention and state the chapter's single most important idea.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1572768"/>
            <a:ext cx="896112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577840" y="1572768"/>
            <a:ext cx="89611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79" y="1847088"/>
            <a:ext cx="713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3B82F6"/>
                </a:solidFill>
                <a:latin typeface="Arial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0992" y="2130552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172033"/>
                </a:solidFill>
                <a:latin typeface="Arial"/>
              </a:rPr>
              <a:t>TEXT
IMAGE
A/V</a:t>
            </a:r>
          </a:p>
        </p:txBody>
      </p:sp>
      <p:sp>
        <p:nvSpPr>
          <p:cNvPr id="11" name="Chevron 10"/>
          <p:cNvSpPr/>
          <p:nvPr/>
        </p:nvSpPr>
        <p:spPr>
          <a:xfrm>
            <a:off x="6510527" y="2249424"/>
            <a:ext cx="146304" cy="219456"/>
          </a:xfrm>
          <a:prstGeom prst="chevron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75120" y="1572768"/>
            <a:ext cx="896112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1572768"/>
            <a:ext cx="89611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59" y="1847088"/>
            <a:ext cx="713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5A623"/>
                </a:solidFill>
                <a:latin typeface="Arial"/>
              </a:rPr>
              <a:t>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130552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172033"/>
                </a:solidFill>
                <a:latin typeface="Arial"/>
              </a:rPr>
              <a:t>ROUTE
RUN
STREAM</a:t>
            </a:r>
          </a:p>
        </p:txBody>
      </p:sp>
      <p:sp>
        <p:nvSpPr>
          <p:cNvPr id="16" name="Chevron 15"/>
          <p:cNvSpPr/>
          <p:nvPr/>
        </p:nvSpPr>
        <p:spPr>
          <a:xfrm>
            <a:off x="7607808" y="2249424"/>
            <a:ext cx="146304" cy="219456"/>
          </a:xfrm>
          <a:prstGeom prst="chevron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0" y="1572768"/>
            <a:ext cx="896112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0" y="1572768"/>
            <a:ext cx="896112" cy="73152"/>
          </a:xfrm>
          <a:prstGeom prst="rect">
            <a:avLst/>
          </a:prstGeom>
          <a:solidFill>
            <a:srgbClr val="7C4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1847088"/>
            <a:ext cx="713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7C4DCC"/>
                </a:solidFill>
                <a:latin typeface="Arial"/>
              </a:rP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5552" y="2130552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172033"/>
                </a:solidFill>
                <a:latin typeface="Arial"/>
              </a:rPr>
              <a:t>TOKENS
MEDIA
EVENTS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754880"/>
            <a:ext cx="2194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19456"/>
            <a:ext cx="42062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3B82F6"/>
                </a:solidFill>
                <a:latin typeface="Arial"/>
              </a:rPr>
              <a:t>LAYOUT 03  ·  AGENDA /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448056"/>
            <a:ext cx="54864" cy="3931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411480"/>
            <a:ext cx="80650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172033"/>
                </a:solidFill>
                <a:latin typeface="Arial"/>
              </a:rPr>
              <a:t>What this deck should answer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33856"/>
            <a:ext cx="3913632" cy="138988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33856"/>
            <a:ext cx="64008" cy="13898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71016"/>
            <a:ext cx="360273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3B82F6"/>
                </a:solidFill>
                <a:latin typeface="Arial"/>
              </a:rPr>
              <a:t>01  / 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36192"/>
            <a:ext cx="36027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72033"/>
                </a:solidFill>
                <a:latin typeface="Arial"/>
              </a:rPr>
              <a:t>What should feel simple?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360273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Arial"/>
              </a:rPr>
              <a:t>Name the user problem before describing the system.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36008" y="1133856"/>
            <a:ext cx="4005072" cy="138988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36008" y="1133856"/>
            <a:ext cx="64008" cy="1389888"/>
          </a:xfrm>
          <a:prstGeom prst="rect">
            <a:avLst/>
          </a:prstGeom>
          <a:solidFill>
            <a:srgbClr val="45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18888" y="1271016"/>
            <a:ext cx="36941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45B7E8"/>
                </a:solidFill>
                <a:latin typeface="Arial"/>
              </a:rPr>
              <a:t>02  / 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8" y="1536192"/>
            <a:ext cx="36941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72033"/>
                </a:solidFill>
                <a:latin typeface="Arial"/>
              </a:rPr>
              <a:t>Where does work happen?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8888" y="1920240"/>
            <a:ext cx="369417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Arial"/>
              </a:rPr>
              <a:t>Expose the few stage boundaries that explain the design.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743200"/>
            <a:ext cx="3913632" cy="138988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743200"/>
            <a:ext cx="64008" cy="13898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880360"/>
            <a:ext cx="360273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5A623"/>
                </a:solidFill>
                <a:latin typeface="Arial"/>
              </a:rPr>
              <a:t>03  / 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145536"/>
            <a:ext cx="36027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72033"/>
                </a:solidFill>
                <a:latin typeface="Arial"/>
              </a:rPr>
              <a:t>What proves the claim?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529584"/>
            <a:ext cx="360273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Arial"/>
              </a:rPr>
              <a:t>Use one comparison with explicit metrics and provenance.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2743200"/>
            <a:ext cx="4005072" cy="138988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36008" y="2743200"/>
            <a:ext cx="64008" cy="1389888"/>
          </a:xfrm>
          <a:prstGeom prst="rect">
            <a:avLst/>
          </a:prstGeom>
          <a:solidFill>
            <a:srgbClr val="7C4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18888" y="2880360"/>
            <a:ext cx="36941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7C4DCC"/>
                </a:solidFill>
                <a:latin typeface="Arial"/>
              </a:rPr>
              <a:t>04  /  ROADMAP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18888" y="3145536"/>
            <a:ext cx="36941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72033"/>
                </a:solidFill>
                <a:latin typeface="Arial"/>
              </a:rPr>
              <a:t>What decision comes next?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18888" y="3529584"/>
            <a:ext cx="369417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Arial"/>
              </a:rPr>
              <a:t>Sequence actions by dependency, ownership, and risk.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681728"/>
            <a:ext cx="8229600" cy="1097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" y="4782312"/>
            <a:ext cx="6309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Arial"/>
              </a:rPr>
              <a:t>Template guidance  ·  Replace with the approved agenda</a:t>
            </a:r>
          </a:p>
        </p:txBody>
      </p:sp>
      <p:pic>
        <p:nvPicPr>
          <p:cNvPr id="27" name="Picture 26" descr="vllm-omn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4800600"/>
            <a:ext cx="1078992" cy="1961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540496" y="4782312"/>
            <a:ext cx="182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19456"/>
            <a:ext cx="42062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3B82F6"/>
                </a:solidFill>
                <a:latin typeface="Arial"/>
              </a:rPr>
              <a:t>LAYOUT 04  ·  GENERAL CONTENT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448056"/>
            <a:ext cx="54864" cy="3931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411480"/>
            <a:ext cx="80650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172033"/>
                </a:solidFill>
                <a:latin typeface="Arial"/>
              </a:rPr>
              <a:t>One interface, many modalities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24712"/>
            <a:ext cx="2971800" cy="327355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362456"/>
            <a:ext cx="25420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5A623"/>
                </a:solidFill>
                <a:latin typeface="Arial"/>
              </a:rPr>
              <a:t>KEY TAKEAWAY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91640"/>
            <a:ext cx="246888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72033"/>
                </a:solidFill>
                <a:latin typeface="Arial"/>
              </a:rPr>
              <a:t>Keep the user contract stable while execution stages evolve.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743200"/>
            <a:ext cx="384048" cy="31089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816352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" y="2788920"/>
            <a:ext cx="19385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rial"/>
              </a:rPr>
              <a:t>One request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209544"/>
            <a:ext cx="384048" cy="310896"/>
          </a:xfrm>
          <a:prstGeom prst="roundRect">
            <a:avLst/>
          </a:prstGeom>
          <a:solidFill>
            <a:srgbClr val="45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3282696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3255263"/>
            <a:ext cx="19385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rial"/>
              </a:rPr>
              <a:t>Explicit stage contracts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675887"/>
            <a:ext cx="384048" cy="310896"/>
          </a:xfrm>
          <a:prstGeom prst="roundRect">
            <a:avLst/>
          </a:prstGeom>
          <a:solidFill>
            <a:srgbClr val="7C4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749039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3584" y="3721607"/>
            <a:ext cx="19385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rial"/>
              </a:rPr>
              <a:t>Observable outputs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94760" y="1261872"/>
            <a:ext cx="1042415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94760" y="1371600"/>
            <a:ext cx="104241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3B82F6"/>
                </a:solidFill>
                <a:latin typeface="Arial"/>
              </a:rPr>
              <a:t>TEXT</a:t>
            </a:r>
          </a:p>
        </p:txBody>
      </p:sp>
      <p:sp>
        <p:nvSpPr>
          <p:cNvPr id="19" name="Chevron 18"/>
          <p:cNvSpPr/>
          <p:nvPr/>
        </p:nvSpPr>
        <p:spPr>
          <a:xfrm>
            <a:off x="4965192" y="1362456"/>
            <a:ext cx="237744" cy="182880"/>
          </a:xfrm>
          <a:prstGeom prst="chevron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794760" y="1901952"/>
            <a:ext cx="1042415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5B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94760" y="2011680"/>
            <a:ext cx="104241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45B7E8"/>
                </a:solidFill>
                <a:latin typeface="Arial"/>
              </a:rPr>
              <a:t>IMAGE</a:t>
            </a:r>
          </a:p>
        </p:txBody>
      </p:sp>
      <p:sp>
        <p:nvSpPr>
          <p:cNvPr id="22" name="Chevron 21"/>
          <p:cNvSpPr/>
          <p:nvPr/>
        </p:nvSpPr>
        <p:spPr>
          <a:xfrm>
            <a:off x="4965192" y="2002536"/>
            <a:ext cx="237744" cy="182880"/>
          </a:xfrm>
          <a:prstGeom prst="chevron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794760" y="2542032"/>
            <a:ext cx="1042415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94760" y="2651760"/>
            <a:ext cx="104241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5A623"/>
                </a:solidFill>
                <a:latin typeface="Arial"/>
              </a:rPr>
              <a:t>AUDIO</a:t>
            </a:r>
          </a:p>
        </p:txBody>
      </p:sp>
      <p:sp>
        <p:nvSpPr>
          <p:cNvPr id="25" name="Chevron 24"/>
          <p:cNvSpPr/>
          <p:nvPr/>
        </p:nvSpPr>
        <p:spPr>
          <a:xfrm>
            <a:off x="4965192" y="2642615"/>
            <a:ext cx="237744" cy="182880"/>
          </a:xfrm>
          <a:prstGeom prst="chevron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794760" y="3182111"/>
            <a:ext cx="1042415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94760" y="3291839"/>
            <a:ext cx="104241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7C4DCC"/>
                </a:solidFill>
                <a:latin typeface="Arial"/>
              </a:rPr>
              <a:t>VIDEO</a:t>
            </a:r>
          </a:p>
        </p:txBody>
      </p:sp>
      <p:sp>
        <p:nvSpPr>
          <p:cNvPr id="28" name="Chevron 27"/>
          <p:cNvSpPr/>
          <p:nvPr/>
        </p:nvSpPr>
        <p:spPr>
          <a:xfrm>
            <a:off x="4965192" y="3282695"/>
            <a:ext cx="237744" cy="182880"/>
          </a:xfrm>
          <a:prstGeom prst="chevron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349240" y="1261872"/>
            <a:ext cx="1920240" cy="2331720"/>
          </a:xfrm>
          <a:prstGeom prst="roundRect">
            <a:avLst/>
          </a:prstGeom>
          <a:solidFill>
            <a:srgbClr val="0D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68696" y="1572768"/>
            <a:ext cx="14813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5A623"/>
                </a:solidFill>
                <a:latin typeface="Arial"/>
              </a:rPr>
              <a:t>vLLM-OMNI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1993392"/>
            <a:ext cx="1554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Unified
serving core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59552" y="2953512"/>
            <a:ext cx="149961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route · schedule · stream</a:t>
            </a:r>
          </a:p>
        </p:txBody>
      </p:sp>
      <p:sp>
        <p:nvSpPr>
          <p:cNvPr id="33" name="Chevron 32"/>
          <p:cNvSpPr/>
          <p:nvPr/>
        </p:nvSpPr>
        <p:spPr>
          <a:xfrm>
            <a:off x="7406640" y="2267712"/>
            <a:ext cx="274320" cy="219456"/>
          </a:xfrm>
          <a:prstGeom prst="chevron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818120" y="1883664"/>
            <a:ext cx="822960" cy="98755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18120" y="2185416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rial"/>
              </a:rPr>
              <a:t>EDITABLE
OUTPUTS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03904" y="3959352"/>
            <a:ext cx="47731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Arial"/>
              </a:rPr>
              <a:t>Use the visual region for relationships, not decorative imagery.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681728"/>
            <a:ext cx="8229600" cy="1097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" y="4782312"/>
            <a:ext cx="6309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Arial"/>
              </a:rPr>
              <a:t>Illustrative architecture  ·  Replace with approved content</a:t>
            </a:r>
          </a:p>
        </p:txBody>
      </p:sp>
      <p:pic>
        <p:nvPicPr>
          <p:cNvPr id="39" name="Picture 38" descr="vllm-omn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4800600"/>
            <a:ext cx="1078992" cy="19618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540496" y="4782312"/>
            <a:ext cx="182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19456"/>
            <a:ext cx="42062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3B82F6"/>
                </a:solidFill>
                <a:latin typeface="Arial"/>
              </a:rPr>
              <a:t>LAYOUT 05  ·  ARCHITECTURE /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448056"/>
            <a:ext cx="54864" cy="3931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411480"/>
            <a:ext cx="80650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172033"/>
                </a:solidFill>
                <a:latin typeface="Arial"/>
              </a:rPr>
              <a:t>Stage contracts keep the pipeline composable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172033"/>
                </a:solidFill>
                <a:latin typeface="Arial"/>
              </a:rPr>
              <a:t>Stable contracts let each stage evolve without rewriting the entire serving path.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72768"/>
            <a:ext cx="1737360" cy="129844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72768"/>
            <a:ext cx="1737360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810512"/>
            <a:ext cx="14447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3B82F6"/>
                </a:solidFill>
                <a:latin typeface="Arial"/>
              </a:rPr>
              <a:t>01  /  ROUTE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103120"/>
            <a:ext cx="144475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72033"/>
                </a:solidFill>
                <a:latin typeface="Arial"/>
              </a:rPr>
              <a:t>Router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542032"/>
            <a:ext cx="144475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Arial"/>
              </a:rPr>
              <a:t>validate · classify</a:t>
            </a:r>
          </a:p>
        </p:txBody>
      </p:sp>
      <p:sp>
        <p:nvSpPr>
          <p:cNvPr id="11" name="Chevron 10"/>
          <p:cNvSpPr/>
          <p:nvPr/>
        </p:nvSpPr>
        <p:spPr>
          <a:xfrm>
            <a:off x="2331720" y="2103120"/>
            <a:ext cx="228600" cy="274320"/>
          </a:xfrm>
          <a:prstGeom prst="chevron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70048" y="1572768"/>
            <a:ext cx="1737360" cy="129844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45B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70048" y="1572768"/>
            <a:ext cx="1737360" cy="82296"/>
          </a:xfrm>
          <a:prstGeom prst="rect">
            <a:avLst/>
          </a:prstGeom>
          <a:solidFill>
            <a:srgbClr val="45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16352" y="1810512"/>
            <a:ext cx="14447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45B7E8"/>
                </a:solidFill>
                <a:latin typeface="Arial"/>
              </a:rPr>
              <a:t>02  /  ENCODE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6352" y="2103120"/>
            <a:ext cx="144475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72033"/>
                </a:solidFill>
                <a:latin typeface="Arial"/>
              </a:rPr>
              <a:t>Adapters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16352" y="2542032"/>
            <a:ext cx="144475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Arial"/>
              </a:rPr>
              <a:t>normalize · batch</a:t>
            </a:r>
          </a:p>
        </p:txBody>
      </p:sp>
      <p:sp>
        <p:nvSpPr>
          <p:cNvPr id="17" name="Chevron 16"/>
          <p:cNvSpPr/>
          <p:nvPr/>
        </p:nvSpPr>
        <p:spPr>
          <a:xfrm>
            <a:off x="4498848" y="2103120"/>
            <a:ext cx="228600" cy="274320"/>
          </a:xfrm>
          <a:prstGeom prst="chevron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37176" y="1572768"/>
            <a:ext cx="1737360" cy="129844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37176" y="1572768"/>
            <a:ext cx="1737360" cy="8229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1810512"/>
            <a:ext cx="14447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5A623"/>
                </a:solidFill>
                <a:latin typeface="Arial"/>
              </a:rPr>
              <a:t>03  /  EXECUTE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2103120"/>
            <a:ext cx="144475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72033"/>
                </a:solidFill>
                <a:latin typeface="Arial"/>
              </a:rPr>
              <a:t>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2542032"/>
            <a:ext cx="144475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Arial"/>
              </a:rPr>
              <a:t>schedule · cache</a:t>
            </a:r>
          </a:p>
        </p:txBody>
      </p:sp>
      <p:sp>
        <p:nvSpPr>
          <p:cNvPr id="23" name="Chevron 22"/>
          <p:cNvSpPr/>
          <p:nvPr/>
        </p:nvSpPr>
        <p:spPr>
          <a:xfrm>
            <a:off x="6665975" y="2103120"/>
            <a:ext cx="228600" cy="274320"/>
          </a:xfrm>
          <a:prstGeom prst="chevron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004304" y="1572768"/>
            <a:ext cx="1737360" cy="129844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7C4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04304" y="1572768"/>
            <a:ext cx="1737360" cy="82296"/>
          </a:xfrm>
          <a:prstGeom prst="rect">
            <a:avLst/>
          </a:prstGeom>
          <a:solidFill>
            <a:srgbClr val="7C4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50608" y="1810512"/>
            <a:ext cx="14447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7C4DCC"/>
                </a:solidFill>
                <a:latin typeface="Arial"/>
              </a:rPr>
              <a:t>04  /  EMIT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50608" y="2103120"/>
            <a:ext cx="144475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72033"/>
                </a:solidFill>
                <a:latin typeface="Arial"/>
              </a:rPr>
              <a:t>Outputs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0608" y="2542032"/>
            <a:ext cx="144475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Arial"/>
              </a:rPr>
              <a:t>decode · stream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3236976"/>
            <a:ext cx="8138160" cy="1005840"/>
          </a:xfrm>
          <a:prstGeom prst="roundRect">
            <a:avLst/>
          </a:prstGeom>
          <a:solidFill>
            <a:srgbClr val="0D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" y="3456432"/>
            <a:ext cx="1508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5A623"/>
                </a:solidFill>
                <a:latin typeface="Arial"/>
              </a:rPr>
              <a:t>CROSS-CUTTING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" y="3767328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Stage contracts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17520" y="3566160"/>
            <a:ext cx="1554480" cy="39319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17520" y="3675887"/>
            <a:ext cx="15544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OBSERVABILITY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09744" y="3566160"/>
            <a:ext cx="1554480" cy="393192"/>
          </a:xfrm>
          <a:prstGeom prst="roundRect">
            <a:avLst/>
          </a:prstGeom>
          <a:solidFill>
            <a:srgbClr val="45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09744" y="3675887"/>
            <a:ext cx="15544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BACKPRESSURE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0" y="3566160"/>
            <a:ext cx="1554480" cy="393192"/>
          </a:xfrm>
          <a:prstGeom prst="roundRect">
            <a:avLst/>
          </a:prstGeom>
          <a:solidFill>
            <a:srgbClr val="7C4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3675887"/>
            <a:ext cx="15544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ERROR BOUNDS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681728"/>
            <a:ext cx="8229600" cy="1097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488" y="4782312"/>
            <a:ext cx="6309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Arial"/>
              </a:rPr>
              <a:t>Illustrative system structure  ·  Replace with approved architecture</a:t>
            </a:r>
          </a:p>
        </p:txBody>
      </p:sp>
      <p:pic>
        <p:nvPicPr>
          <p:cNvPr id="40" name="Picture 39" descr="vllm-omn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4800600"/>
            <a:ext cx="1078992" cy="19618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540496" y="4782312"/>
            <a:ext cx="182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19456"/>
            <a:ext cx="42062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3B82F6"/>
                </a:solidFill>
                <a:latin typeface="Arial"/>
              </a:rPr>
              <a:t>LAYOUT 06  ·  EVIDENCE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448056"/>
            <a:ext cx="54864" cy="3931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411480"/>
            <a:ext cx="80650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172033"/>
                </a:solidFill>
                <a:latin typeface="Arial"/>
              </a:rPr>
              <a:t>Evidence should make the comparison obvious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374903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5E6B7A"/>
                </a:solidFill>
                <a:latin typeface="Arial"/>
              </a:rPr>
              <a:t>RELATIVE THROUGHPUT  ·  HIGHER IS BETTER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481328"/>
          <a:ext cx="5212080" cy="26700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998464" y="1225296"/>
            <a:ext cx="2642616" cy="135331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426464"/>
            <a:ext cx="21579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72033"/>
                </a:solidFill>
                <a:latin typeface="Arial"/>
              </a:rPr>
              <a:t>Read the claim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847088"/>
            <a:ext cx="21031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Arial"/>
              </a:rPr>
              <a:t>Highlight one comparison and keep the baseline visible.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98464" y="2770632"/>
            <a:ext cx="2642616" cy="1353312"/>
          </a:xfrm>
          <a:prstGeom prst="roundRect">
            <a:avLst/>
          </a:prstGeom>
          <a:solidFill>
            <a:srgbClr val="0D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980944"/>
            <a:ext cx="10972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1.4×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456432"/>
            <a:ext cx="2103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Example conclusion
Replace with approved 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279392"/>
            <a:ext cx="5212080" cy="256032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334256"/>
            <a:ext cx="5212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ILLUSTRATIVE DATA  ·  NOT BENCHMARK RESULTS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681728"/>
            <a:ext cx="8229600" cy="1097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4782312"/>
            <a:ext cx="6309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Arial"/>
              </a:rPr>
              <a:t>Illustrative data — not benchmark results</a:t>
            </a:r>
          </a:p>
        </p:txBody>
      </p:sp>
      <p:pic>
        <p:nvPicPr>
          <p:cNvPr id="17" name="Picture 16" descr="vllm-omni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4800600"/>
            <a:ext cx="1078992" cy="1961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540496" y="4782312"/>
            <a:ext cx="182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19456"/>
            <a:ext cx="42062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3B82F6"/>
                </a:solidFill>
                <a:latin typeface="Arial"/>
              </a:rPr>
              <a:t>LAYOUT 07  ·  ROADMAP / 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475488" y="448056"/>
            <a:ext cx="54864" cy="3931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411480"/>
            <a:ext cx="80650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172033"/>
                </a:solidFill>
                <a:latin typeface="Arial"/>
              </a:rPr>
              <a:t>Sequence work by dependency, not excitement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8138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172033"/>
                </a:solidFill>
                <a:latin typeface="Arial"/>
              </a:rPr>
              <a:t>Use three horizons to make ownership, prerequisites, and decision gates visible.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90472"/>
            <a:ext cx="2560320" cy="242316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90472"/>
            <a:ext cx="2560320" cy="822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19072"/>
            <a:ext cx="21945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3B82F6"/>
                </a:solidFill>
                <a:latin typeface="Arial"/>
              </a:rPr>
              <a:t>NOW  /  VALIDATE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79"/>
            <a:ext cx="2194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72033"/>
                </a:solidFill>
                <a:latin typeface="Arial"/>
              </a:rPr>
              <a:t>Stabilize the contract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816352"/>
            <a:ext cx="274320" cy="2743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71216"/>
            <a:ext cx="274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" y="2834640"/>
            <a:ext cx="17556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172033"/>
                </a:solidFill>
                <a:latin typeface="Arial"/>
              </a:rPr>
              <a:t>Confirm stage boundaries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19856"/>
            <a:ext cx="274320" cy="2743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474720"/>
            <a:ext cx="274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" y="3438144"/>
            <a:ext cx="17556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172033"/>
                </a:solidFill>
                <a:latin typeface="Arial"/>
              </a:rPr>
              <a:t>Instrument the critical path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1490472"/>
            <a:ext cx="2560320" cy="242316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1490472"/>
            <a:ext cx="2560320" cy="8229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719072"/>
            <a:ext cx="21945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5A623"/>
                </a:solidFill>
                <a:latin typeface="Arial"/>
              </a:rPr>
              <a:t>NEXT  / 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011679"/>
            <a:ext cx="2194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72033"/>
                </a:solidFill>
                <a:latin typeface="Arial"/>
              </a:rPr>
              <a:t>Prove the bottleneck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2816352"/>
            <a:ext cx="274320" cy="27432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2871216"/>
            <a:ext cx="274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77056" y="2834640"/>
            <a:ext cx="17556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172033"/>
                </a:solidFill>
                <a:latin typeface="Arial"/>
              </a:rPr>
              <a:t>Run controlled evidence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74720" y="3419856"/>
            <a:ext cx="274320" cy="27432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3474720"/>
            <a:ext cx="274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77056" y="3438144"/>
            <a:ext cx="17556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172033"/>
                </a:solidFill>
                <a:latin typeface="Arial"/>
              </a:rPr>
              <a:t>Assign optimization owner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760" y="1490472"/>
            <a:ext cx="2560320" cy="242316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80760" y="1490472"/>
            <a:ext cx="2560320" cy="82296"/>
          </a:xfrm>
          <a:prstGeom prst="rect">
            <a:avLst/>
          </a:prstGeom>
          <a:solidFill>
            <a:srgbClr val="7C4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1719072"/>
            <a:ext cx="21945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7C4DCC"/>
                </a:solidFill>
                <a:latin typeface="Arial"/>
              </a:rPr>
              <a:t>LATER  /  EXPAND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2011679"/>
            <a:ext cx="2194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72033"/>
                </a:solidFill>
                <a:latin typeface="Arial"/>
              </a:rPr>
              <a:t>Broaden support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2816352"/>
            <a:ext cx="274320" cy="274320"/>
          </a:xfrm>
          <a:prstGeom prst="roundRect">
            <a:avLst/>
          </a:prstGeom>
          <a:solidFill>
            <a:srgbClr val="7C4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2871216"/>
            <a:ext cx="274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65976" y="2834640"/>
            <a:ext cx="17556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172033"/>
                </a:solidFill>
                <a:latin typeface="Arial"/>
              </a:rPr>
              <a:t>Add the next modality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3419856"/>
            <a:ext cx="274320" cy="274320"/>
          </a:xfrm>
          <a:prstGeom prst="roundRect">
            <a:avLst/>
          </a:prstGeom>
          <a:solidFill>
            <a:srgbClr val="7C4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474720"/>
            <a:ext cx="274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65976" y="3438144"/>
            <a:ext cx="17556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172033"/>
                </a:solidFill>
                <a:latin typeface="Arial"/>
              </a:rPr>
              <a:t>Retire temporary paths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4123944"/>
            <a:ext cx="8138160" cy="420624"/>
          </a:xfrm>
          <a:prstGeom prst="roundRect">
            <a:avLst/>
          </a:prstGeom>
          <a:solidFill>
            <a:srgbClr val="0D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4944" y="4242816"/>
            <a:ext cx="12344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5A623"/>
                </a:solidFill>
                <a:latin typeface="Arial"/>
              </a:rPr>
              <a:t>DECISION GATE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29968" y="4206240"/>
            <a:ext cx="62910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Advance only when evidence and ownership are explicit.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681728"/>
            <a:ext cx="8229600" cy="10972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5488" y="4782312"/>
            <a:ext cx="6309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Arial"/>
              </a:rPr>
              <a:t>Illustrative roadmap  ·  Replace with approved owners and dates</a:t>
            </a:r>
          </a:p>
        </p:txBody>
      </p:sp>
      <p:pic>
        <p:nvPicPr>
          <p:cNvPr id="41" name="Picture 40" descr="vllm-omn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4800600"/>
            <a:ext cx="1078992" cy="19618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540496" y="4782312"/>
            <a:ext cx="182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E6B7A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vLLM-Omni editable presentation template</dc:title>
  <dc:subject>Seven reusable vLLM-Omni slide layouts</dc:subject>
  <dc:creator>vLLM-Omni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