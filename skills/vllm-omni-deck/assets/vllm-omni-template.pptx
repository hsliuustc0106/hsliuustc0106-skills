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5E6B7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Text</c:v>
                </c:pt>
                <c:pt idx="1">
                  <c:v>Image</c:v>
                </c:pt>
                <c:pt idx="2">
                  <c:v>Audio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Text</c:v>
                </c:pt>
                <c:pt idx="1">
                  <c:v>Image</c:v>
                </c:pt>
                <c:pt idx="2">
                  <c:v>Audio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1.5</c:v>
                </c:pt>
                <c:pt idx="1">
                  <c:v>1.4</c:v>
                </c:pt>
                <c:pt idx="2">
                  <c:v>1.3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8"/>
          <c:min val="0.0"/>
        </c:scaling>
        <c:delete val="0"/>
        <c:axPos val="l"/>
        <c:majorGridlines>
          <c:spPr>
            <a:ln>
              <a:solidFill>
                <a:srgbClr val="D8E2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  <c:majorUnit val="0.5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309.06180" TargetMode="External"/><Relationship Id="rId3" Type="http://schemas.openxmlformats.org/officeDocument/2006/relationships/hyperlink" Target="https://vllm.ai/blog/2026-07-01-qwen3-omni-optimization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" y="1115568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vLLM-Omni
Technical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542032"/>
            <a:ext cx="4983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reusable visual system for multimodal serving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3172968"/>
            <a:ext cx="658368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3410712"/>
            <a:ext cx="4297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Presenter / team  ·  Event or review  ·  Month YYYY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261872"/>
            <a:ext cx="1225296" cy="42062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1380743"/>
            <a:ext cx="12252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TEXT</a:t>
            </a:r>
          </a:p>
        </p:txBody>
      </p:sp>
      <p:sp>
        <p:nvSpPr>
          <p:cNvPr id="10" name="Chevron 9"/>
          <p:cNvSpPr/>
          <p:nvPr/>
        </p:nvSpPr>
        <p:spPr>
          <a:xfrm>
            <a:off x="7461504" y="1380743"/>
            <a:ext cx="274320" cy="17373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08192" y="1883664"/>
            <a:ext cx="1225296" cy="420624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2002536"/>
            <a:ext cx="12252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13" name="Chevron 12"/>
          <p:cNvSpPr/>
          <p:nvPr/>
        </p:nvSpPr>
        <p:spPr>
          <a:xfrm>
            <a:off x="7461504" y="2002536"/>
            <a:ext cx="274320" cy="17373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08192" y="2505456"/>
            <a:ext cx="1225296" cy="420624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8192" y="2624328"/>
            <a:ext cx="12252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AUDIO</a:t>
            </a:r>
          </a:p>
        </p:txBody>
      </p:sp>
      <p:sp>
        <p:nvSpPr>
          <p:cNvPr id="16" name="Chevron 15"/>
          <p:cNvSpPr/>
          <p:nvPr/>
        </p:nvSpPr>
        <p:spPr>
          <a:xfrm>
            <a:off x="7461504" y="2624328"/>
            <a:ext cx="274320" cy="17373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08192" y="3127248"/>
            <a:ext cx="1225296" cy="420624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246120"/>
            <a:ext cx="12252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19" name="Chevron 18"/>
          <p:cNvSpPr/>
          <p:nvPr/>
        </p:nvSpPr>
        <p:spPr>
          <a:xfrm>
            <a:off x="7461504" y="3246120"/>
            <a:ext cx="274320" cy="17373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18120" y="1938528"/>
            <a:ext cx="822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227685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D2340"/>
                </a:solidFill>
                <a:latin typeface="Arial"/>
              </a:rPr>
              <a:t>OMNI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4608576"/>
            <a:ext cx="8101583" cy="109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4718304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POWERPOINT-FIRST  ·  EDITABLE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5488" y="310896"/>
            <a:ext cx="1755648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11480"/>
            <a:ext cx="1499616" cy="2726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" y="1207008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01  /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572768"/>
            <a:ext cx="466344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One serving path.
Many modalities.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4434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Use a section slide to reset attention and state the chapter's single most important idea.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572768"/>
            <a:ext cx="896112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0" y="1572768"/>
            <a:ext cx="89611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79" y="1847088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21305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TEXT
IMAGE
A/V</a:t>
            </a:r>
          </a:p>
        </p:txBody>
      </p:sp>
      <p:sp>
        <p:nvSpPr>
          <p:cNvPr id="11" name="Chevron 10"/>
          <p:cNvSpPr/>
          <p:nvPr/>
        </p:nvSpPr>
        <p:spPr>
          <a:xfrm>
            <a:off x="6510527" y="2249424"/>
            <a:ext cx="146304" cy="21945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572768"/>
            <a:ext cx="896112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572768"/>
            <a:ext cx="89611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1847088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1305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ROUTE
RUN
STREAM</a:t>
            </a:r>
          </a:p>
        </p:txBody>
      </p:sp>
      <p:sp>
        <p:nvSpPr>
          <p:cNvPr id="16" name="Chevron 15"/>
          <p:cNvSpPr/>
          <p:nvPr/>
        </p:nvSpPr>
        <p:spPr>
          <a:xfrm>
            <a:off x="7607808" y="2249424"/>
            <a:ext cx="146304" cy="21945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0" y="1572768"/>
            <a:ext cx="896112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0" y="1572768"/>
            <a:ext cx="896112" cy="73152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1847088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2130552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TOKENS
MEDIA
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754880"/>
            <a:ext cx="219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03  ·  AGENDA /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What this deck should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3856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64008" cy="1389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71016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01  / 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What should feel simple?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Name the user problem before describing the system.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133856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133856"/>
            <a:ext cx="64008" cy="1389888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271016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02  / 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536192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Where does work happen?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920240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Expose the few stage boundaries that explain the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391363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0360"/>
            <a:ext cx="36027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03  / 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45536"/>
            <a:ext cx="3602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What proves the claim?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9584"/>
            <a:ext cx="360273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Use one comparison with explicit metrics and provenance.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2743200"/>
            <a:ext cx="4005072" cy="138988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36008" y="2743200"/>
            <a:ext cx="64008" cy="1389888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880360"/>
            <a:ext cx="36941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04  /  ROADMAP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8888" y="3145536"/>
            <a:ext cx="3694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What decision comes next?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529584"/>
            <a:ext cx="369417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Sequence actions by dependency, ownership, and risk.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Template guidance  ·  Replace with the approved agenda</a:t>
            </a:r>
          </a:p>
        </p:txBody>
      </p:sp>
      <p:pic>
        <p:nvPicPr>
          <p:cNvPr id="27" name="Picture 26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04  ·  GENERAL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One interface, many modalities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24712"/>
            <a:ext cx="2971800" cy="3273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62456"/>
            <a:ext cx="25420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KEY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24688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Keep the user contract stable while execution stages evolve.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743200"/>
            <a:ext cx="384048" cy="3108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163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2788920"/>
            <a:ext cx="19385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One request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9544"/>
            <a:ext cx="384048" cy="310896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282696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255263"/>
            <a:ext cx="19385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Explicit stage contracts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675887"/>
            <a:ext cx="384048" cy="310896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49039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721607"/>
            <a:ext cx="19385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Observable outputs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1261872"/>
            <a:ext cx="1042415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1371600"/>
            <a:ext cx="10424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TEXT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5192" y="1362456"/>
            <a:ext cx="237744" cy="18288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94760" y="1901952"/>
            <a:ext cx="1042415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2011680"/>
            <a:ext cx="10424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IMAGE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5192" y="2002536"/>
            <a:ext cx="237744" cy="18288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794760" y="2542032"/>
            <a:ext cx="1042415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2651760"/>
            <a:ext cx="10424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AUDIO</a:t>
            </a:r>
          </a:p>
        </p:txBody>
      </p:sp>
      <p:sp>
        <p:nvSpPr>
          <p:cNvPr id="25" name="Chevron 24"/>
          <p:cNvSpPr/>
          <p:nvPr/>
        </p:nvSpPr>
        <p:spPr>
          <a:xfrm>
            <a:off x="4965192" y="2642615"/>
            <a:ext cx="237744" cy="18288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94760" y="3182111"/>
            <a:ext cx="1042415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3291839"/>
            <a:ext cx="104241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VIDEO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5192" y="3282695"/>
            <a:ext cx="237744" cy="18288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49240" y="1261872"/>
            <a:ext cx="1920240" cy="233172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68696" y="1572768"/>
            <a:ext cx="14813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vLLM-OMNI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1993392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Unified
serving 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2953512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route · schedule · stream</a:t>
            </a:r>
          </a:p>
        </p:txBody>
      </p:sp>
      <p:sp>
        <p:nvSpPr>
          <p:cNvPr id="33" name="Chevron 32"/>
          <p:cNvSpPr/>
          <p:nvPr/>
        </p:nvSpPr>
        <p:spPr>
          <a:xfrm>
            <a:off x="7406640" y="2267712"/>
            <a:ext cx="274320" cy="219456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818120" y="1883664"/>
            <a:ext cx="822960" cy="98755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18120" y="2185416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72033"/>
                </a:solidFill>
                <a:latin typeface="Arial"/>
              </a:rPr>
              <a:t>EDITABLE
OUTPUTS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03904" y="3959352"/>
            <a:ext cx="47731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Use the visual region for relationships, not decorative imagery.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Illustrative architecture  ·  Replace with approved content</a:t>
            </a:r>
          </a:p>
        </p:txBody>
      </p:sp>
      <p:pic>
        <p:nvPicPr>
          <p:cNvPr id="39" name="Picture 38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05  ·  ARCHITECTURE /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Stage contracts keep the pipeline composable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Stable contracts let each stage evolve without rewriting the entire serving path.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173736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73736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10512"/>
            <a:ext cx="14447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01  / 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103120"/>
            <a:ext cx="144475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542032"/>
            <a:ext cx="1444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validate · classify</a:t>
            </a:r>
          </a:p>
        </p:txBody>
      </p:sp>
      <p:sp>
        <p:nvSpPr>
          <p:cNvPr id="11" name="Chevron 10"/>
          <p:cNvSpPr/>
          <p:nvPr/>
        </p:nvSpPr>
        <p:spPr>
          <a:xfrm>
            <a:off x="2331720" y="2103120"/>
            <a:ext cx="228600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1572768"/>
            <a:ext cx="173736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45B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0048" y="1572768"/>
            <a:ext cx="1737360" cy="82296"/>
          </a:xfrm>
          <a:prstGeom prst="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810512"/>
            <a:ext cx="14447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45B7E8"/>
                </a:solidFill>
                <a:latin typeface="Arial"/>
              </a:rPr>
              <a:t>02  /  ENCODE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103120"/>
            <a:ext cx="144475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Adapters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42032"/>
            <a:ext cx="1444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normalize · batch</a:t>
            </a:r>
          </a:p>
        </p:txBody>
      </p:sp>
      <p:sp>
        <p:nvSpPr>
          <p:cNvPr id="17" name="Chevron 16"/>
          <p:cNvSpPr/>
          <p:nvPr/>
        </p:nvSpPr>
        <p:spPr>
          <a:xfrm>
            <a:off x="4498848" y="2103120"/>
            <a:ext cx="228600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37176" y="1572768"/>
            <a:ext cx="173736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37176" y="1572768"/>
            <a:ext cx="173736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1810512"/>
            <a:ext cx="14447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03  /  EXECUTE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103120"/>
            <a:ext cx="144475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542032"/>
            <a:ext cx="1444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schedule · cache</a:t>
            </a:r>
          </a:p>
        </p:txBody>
      </p:sp>
      <p:sp>
        <p:nvSpPr>
          <p:cNvPr id="23" name="Chevron 22"/>
          <p:cNvSpPr/>
          <p:nvPr/>
        </p:nvSpPr>
        <p:spPr>
          <a:xfrm>
            <a:off x="6665975" y="2103120"/>
            <a:ext cx="228600" cy="274320"/>
          </a:xfrm>
          <a:prstGeom prst="chevron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04304" y="1572768"/>
            <a:ext cx="1737360" cy="1298448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7C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04304" y="1572768"/>
            <a:ext cx="173736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1810512"/>
            <a:ext cx="144475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04  /  EMIT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2103120"/>
            <a:ext cx="144475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542032"/>
            <a:ext cx="144475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decode · 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236976"/>
            <a:ext cx="8138160" cy="1005840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3456432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CROSS-CUTTING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376732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Stage contracts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3566160"/>
            <a:ext cx="1554480" cy="39319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675887"/>
            <a:ext cx="1554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9744" y="3566160"/>
            <a:ext cx="1554480" cy="393192"/>
          </a:xfrm>
          <a:prstGeom prst="roundRect">
            <a:avLst/>
          </a:prstGeom>
          <a:solidFill>
            <a:srgbClr val="45B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9744" y="3675887"/>
            <a:ext cx="1554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BACKPRESSURE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3566160"/>
            <a:ext cx="1554480" cy="393192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675887"/>
            <a:ext cx="1554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ERROR BOUNDS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Illustrative system structure  ·  Replace with approved architecture</a:t>
            </a:r>
          </a:p>
        </p:txBody>
      </p:sp>
      <p:pic>
        <p:nvPicPr>
          <p:cNvPr id="40" name="Picture 39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06  · 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Evidence should make the comparison obvious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E6B7A"/>
                </a:solidFill>
                <a:latin typeface="Arial"/>
              </a:rPr>
              <a:t>RELATIVE THROUGHPUT  ·  HIGHER IS BETTER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481328"/>
          <a:ext cx="5212080" cy="26700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98464" y="1225296"/>
            <a:ext cx="2642616" cy="1353312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426464"/>
            <a:ext cx="21579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Read the claim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47088"/>
            <a:ext cx="21031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Highlight one comparison and keep the baseline visible.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98464" y="2770632"/>
            <a:ext cx="2642616" cy="1353312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980944"/>
            <a:ext cx="1097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1.4×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564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Example conclusion
Replace with approved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79392"/>
            <a:ext cx="5212080" cy="25603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334256"/>
            <a:ext cx="5212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ILLUSTRATIVE DATA  ·  NOT BENCHMARK RESULTS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Illustrative data — not benchmark results</a:t>
            </a:r>
          </a:p>
        </p:txBody>
      </p:sp>
      <p:pic>
        <p:nvPicPr>
          <p:cNvPr id="17" name="Picture 16" descr="vllm-om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07  ·  ROADMAP /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Sequence work by dependency, not excitement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72033"/>
                </a:solidFill>
                <a:latin typeface="Arial"/>
              </a:rPr>
              <a:t>Use three horizons to make ownership, prerequisites, and decision gates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90472"/>
            <a:ext cx="256032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NOW  / 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Stabilize the contract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16352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Confirm stage boundaries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19856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Instrument the critical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490472"/>
            <a:ext cx="2560320" cy="82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NEXT  / 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Prove the bottleneck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816352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Run controlled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3419856"/>
            <a:ext cx="274320" cy="2743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705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Assign optimization owner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490472"/>
            <a:ext cx="2560320" cy="242316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0" y="1490472"/>
            <a:ext cx="2560320" cy="82296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719072"/>
            <a:ext cx="21945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LATER  /  EXPAND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011679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Broaden support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816352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871216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2834640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Add the next modality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419856"/>
            <a:ext cx="274320" cy="274320"/>
          </a:xfrm>
          <a:prstGeom prst="round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474720"/>
            <a:ext cx="274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5976" y="3438144"/>
            <a:ext cx="17556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72033"/>
                </a:solidFill>
                <a:latin typeface="Arial"/>
              </a:rPr>
              <a:t>Retire temporary paths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123944"/>
            <a:ext cx="8138160" cy="420624"/>
          </a:xfrm>
          <a:prstGeom prst="roundRect">
            <a:avLst/>
          </a:prstGeom>
          <a:solidFill>
            <a:srgbClr val="0D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242816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DECISION GATE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9968" y="4206240"/>
            <a:ext cx="6291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Advance only when evidence and ownership are explicit.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Illustrative roadmap  ·  Replace with approved owners and dates</a:t>
            </a:r>
          </a:p>
        </p:txBody>
      </p:sp>
      <p:pic>
        <p:nvPicPr>
          <p:cNvPr id="41" name="Picture 40" descr="vllm-omn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19456"/>
            <a:ext cx="4206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LAYOUT 09  · 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448056"/>
            <a:ext cx="54864" cy="3931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411480"/>
            <a:ext cx="8065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172033"/>
                </a:solidFill>
                <a:latin typeface="Arial"/>
              </a:rPr>
              <a:t>Make every source easy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8138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Use primary sources, preserve version or status, and link the canonical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62456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62456"/>
            <a:ext cx="64008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282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rial"/>
              </a:rPr>
              <a:t>PAPER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7943" y="1481328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PagedAttention for efficient LLM serving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7943" y="1929384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Kwon et al.  ·  SOSP 2023  ·  arXiv:2309.06180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9384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  <a:hlinkClick r:id="rId2"/>
              </a:rPr>
              <a:t>Open paper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23160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23160"/>
            <a:ext cx="64008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889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Arial"/>
              </a:rPr>
              <a:t>BLOG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7943" y="2542032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Serving multi-stage Qwen3-Omni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7943" y="2990088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vLLM-Omni Team  ·  vLLM Blog  ·  2026-07-01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90088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  <a:hlinkClick r:id="rId3"/>
              </a:rPr>
              <a:t>Open blog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83864"/>
            <a:ext cx="8138160" cy="9144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83864"/>
            <a:ext cx="64008" cy="914400"/>
          </a:xfrm>
          <a:prstGeom prst="rect">
            <a:avLst/>
          </a:prstGeom>
          <a:solidFill>
            <a:srgbClr val="7C4D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496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7C4DCC"/>
                </a:solidFill>
                <a:latin typeface="Arial"/>
              </a:rPr>
              <a:t>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37943" y="3602736"/>
            <a:ext cx="65745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72033"/>
                </a:solidFill>
                <a:latin typeface="Arial"/>
              </a:rPr>
              <a:t>Add or optimize the referenced serving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7943" y="4050791"/>
            <a:ext cx="42245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Repository  ·  PR #NNNN  ·  merged  ·  YYYY-MM-DD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50791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B82F6"/>
                </a:solidFill>
                <a:latin typeface="Arial"/>
              </a:rPr>
              <a:t>Canonical PR URL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81728"/>
            <a:ext cx="8229600" cy="10972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782312"/>
            <a:ext cx="6309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Template guidance  ·  Cite only sources used in the deck</a:t>
            </a:r>
          </a:p>
        </p:txBody>
      </p:sp>
      <p:pic>
        <p:nvPicPr>
          <p:cNvPr id="26" name="Picture 25" descr="vllm-omni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4800600"/>
            <a:ext cx="1078992" cy="1961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40496" y="4782312"/>
            <a:ext cx="182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E6B7A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vLLM-Omni editable presentation template</dc:title>
  <dc:subject>Eight reusable vLLM-Omni slide layouts</dc:subject>
  <dc:creator>vLLM-Omni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